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Segoe UI"/>
        <a:ea typeface="Segoe UI"/>
        <a:cs typeface="Segoe UI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Segoe UI"/>
        <a:ea typeface="Segoe UI"/>
        <a:cs typeface="Segoe UI"/>
      </a:defRPr>
    </a:lvl2pPr>
    <a:lvl3pPr marL="914400" algn="l" defTabSz="914400" rtl="0" eaLnBrk="1" latinLnBrk="0" hangingPunct="1">
      <a:defRPr sz="1600" kern="1200">
        <a:solidFill>
          <a:schemeClr val="tx1"/>
        </a:solidFill>
        <a:latin typeface="Segoe UI"/>
        <a:ea typeface="Segoe UI"/>
        <a:cs typeface="Segoe UI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Segoe UI"/>
        <a:ea typeface="Segoe UI"/>
        <a:cs typeface="Segoe UI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Segoe UI"/>
        <a:ea typeface="Segoe UI"/>
        <a:cs typeface="Segoe U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Segoe UI"/>
        <a:ea typeface="Segoe UI"/>
        <a:cs typeface="Segoe UI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Segoe UI"/>
        <a:ea typeface="Segoe UI"/>
        <a:cs typeface="Segoe UI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Segoe UI"/>
        <a:ea typeface="Segoe UI"/>
        <a:cs typeface="Segoe UI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Segoe UI"/>
        <a:ea typeface="Segoe UI"/>
        <a:cs typeface="Segoe U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Segoe UI"/>
          <a:ea typeface="Segoe UI"/>
          <a:cs typeface="Segoe U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Segoe UI"/>
          <a:ea typeface="Segoe UI"/>
          <a:cs typeface="Segoe UI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Segoe UI"/>
          <a:ea typeface="Segoe UI"/>
          <a:cs typeface="Segoe UI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Segoe UI"/>
          <a:ea typeface="Segoe UI"/>
          <a:cs typeface="Segoe UI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Segoe UI"/>
          <a:ea typeface="Segoe UI"/>
          <a:cs typeface="Segoe UI"/>
        </a:defRPr>
      </a:lvl5pPr>
      <a:lvl6pPr marL="22860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6pPr>
      <a:lvl7pPr marL="27432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7pPr>
      <a:lvl8pPr marL="32004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8pPr>
      <a:lvl9pPr marL="36576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9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Segoe UI"/>
          <a:ea typeface="Segoe UI"/>
          <a:cs typeface="Segoe U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Segoe UI"/>
          <a:ea typeface="Segoe UI"/>
          <a:cs typeface="Segoe UI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Segoe UI"/>
          <a:ea typeface="Segoe UI"/>
          <a:cs typeface="Segoe UI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Segoe UI"/>
          <a:ea typeface="Segoe UI"/>
          <a:cs typeface="Segoe UI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Segoe UI"/>
          <a:ea typeface="Segoe UI"/>
          <a:cs typeface="Segoe UI"/>
        </a:defRPr>
      </a:lvl5pPr>
      <a:lvl6pPr marL="22860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6pPr>
      <a:lvl7pPr marL="27432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7pPr>
      <a:lvl8pPr marL="32004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8pPr>
      <a:lvl9pPr marL="36576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Segoe UI"/>
          <a:ea typeface="Segoe UI"/>
          <a:cs typeface="Segoe U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Segoe UI"/>
          <a:ea typeface="Segoe UI"/>
          <a:cs typeface="Segoe UI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Segoe UI"/>
          <a:ea typeface="Segoe UI"/>
          <a:cs typeface="Segoe UI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Segoe UI"/>
          <a:ea typeface="Segoe UI"/>
          <a:cs typeface="Segoe UI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Segoe UI"/>
          <a:ea typeface="Segoe UI"/>
          <a:cs typeface="Segoe UI"/>
        </a:defRPr>
      </a:lvl5pPr>
      <a:lvl6pPr marL="22860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6pPr>
      <a:lvl7pPr marL="27432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7pPr>
      <a:lvl8pPr marL="32004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8pPr>
      <a:lvl9pPr marL="3657600" algn="l" defTabSz="914400" rtl="0" eaLnBrk="1" latinLnBrk="0" hangingPunct="1">
        <a:defRPr sz="1200" kern="1200">
          <a:solidFill>
            <a:schemeClr val="tx1"/>
          </a:solidFill>
          <a:latin typeface="Segoe UI"/>
          <a:ea typeface="Segoe UI"/>
          <a:cs typeface="Segoe U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618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1E7F8"/>
          </a:solidFill>
          <a:ln>
            <a:noFill/>
          </a:ln>
        </p:spPr>
        <p:txBody>
          <a:bodyPr/>
          <a:p/>
        </p:txBody>
      </p:sp>
      <p:sp>
        <p:nvSpPr>
          <p:cNvPr id="4" name="CoverTitle 4"/>
          <p:cNvSpPr txBox="1"/>
          <p:nvPr/>
        </p:nvSpPr>
        <p:spPr>
          <a:xfrm>
            <a:off x="713232" y="1097280"/>
            <a:ext cx="9966960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4400" b="1">
                <a:solidFill>
                  <a:srgbClr val="333333"/>
                </a:solidFill>
                <a:latin typeface="Segoe UI"/>
                <a:cs typeface="Segoe UI"/>
              </a:rPr>
              <a:t>SAL — Validazione DuckDB ed estensioni</a:t>
            </a:r>
            <a:endParaRPr lang="it-IT" sz="4400"/>
          </a:p>
        </p:txBody>
      </p:sp>
      <p:sp>
        <p:nvSpPr>
          <p:cNvPr id="5" name="DocType 5"/>
          <p:cNvSpPr txBox="1"/>
          <p:nvPr/>
        </p:nvSpPr>
        <p:spPr>
          <a:xfrm>
            <a:off x="749808" y="2834640"/>
            <a:ext cx="566928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2100" b="1">
                <a:solidFill>
                  <a:srgbClr val="006181"/>
                </a:solidFill>
                <a:latin typeface="Segoe UI"/>
                <a:cs typeface="Segoe UI"/>
              </a:rPr>
              <a:t>Stato Avanzamento Lavori</a:t>
            </a:r>
            <a:endParaRPr lang="it-IT" sz="2100"/>
          </a:p>
        </p:txBody>
      </p:sp>
      <p:sp>
        <p:nvSpPr>
          <p:cNvPr id="6" name="CoverMeta 6"/>
          <p:cNvSpPr txBox="1"/>
          <p:nvPr/>
        </p:nvSpPr>
        <p:spPr>
          <a:xfrm>
            <a:off x="749808" y="3310128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300">
                <a:solidFill>
                  <a:srgbClr val="727272"/>
                </a:solidFill>
                <a:latin typeface="Segoe UI"/>
                <a:cs typeface="Segoe UI"/>
              </a:rPr>
              <a:t>23/07/2026 | Uso interno</a:t>
            </a:r>
            <a:endParaRPr lang="it-IT" sz="1300"/>
          </a:p>
        </p:txBody>
      </p:sp>
      <p:sp>
        <p:nvSpPr>
          <p:cNvPr id="7" name="Brand 7"/>
          <p:cNvSpPr txBox="1"/>
          <p:nvPr/>
        </p:nvSpPr>
        <p:spPr>
          <a:xfrm>
            <a:off x="749808" y="636422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100" b="1">
                <a:solidFill>
                  <a:srgbClr val="333333"/>
                </a:solidFill>
                <a:latin typeface="Segoe UI"/>
                <a:cs typeface="Segoe UI"/>
              </a:rPr>
              <a:t>Irion</a:t>
            </a:r>
            <a:endParaRPr lang="it-IT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PROCESSO DI VALIDAZIONE DUCKDB ED ESTENSIONI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Processo di validazione DuckDB ed estensioni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Esigenza, processo proposto, risultati del POC e scelta della piattaforma di esecuzione.</a:t>
            </a:r>
            <a:endParaRPr lang="it-IT" sz="15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Contesto: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DuckDB viene utilizzato nell'Analytics Engine insieme a un insieme di estensioni;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tramite un POC abbiamo verificato la fattibilità tecnica del processo;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il SAL deve valutare se il processo è soddisfacente e dove deve essere eseguito stabilmente.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Processo di validazione DuckDB ed estensioni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2</a:t>
            </a:r>
            <a:endParaRPr lang="it-IT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PERCHÉ SERVE UN PROCESSO?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Perché serve un processo?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Gli aggiornamenti DuckDB richiedono una validazione ripetibile, non soltanto prove manuali.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Nel tempo abbiamo provato controlli diversi, ma erano limitati o legati alla singola macchina di sviluppo.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Build di DuckDB, unittest, container e batterie di test possono occupare la postazione per molto tempo.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Con l'aumento di estensioni, servizi e scenari, l'esecuzione completa può durare ore.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Serve quindi un processo automatizzato, rieseguibile e spostato su infrastruttura dedicata.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Perché serve un processo?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3</a:t>
            </a:r>
            <a:endParaRPr lang="it-IT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AGGIORNARE DUCKDB NON SIGNIFICA AGGIORNARE TUTTO ALLO STESSO MODO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Aggiornare DuckDB non significa aggiornare tutto allo stesso modo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Ogni release DuckDB seleziona specifiche revisioni delle estensioni: una revisione può avanzare, restare invariata o essere semplicemente ricompilata per la nuova versione DuckDB e piattaforma.</a:t>
            </a:r>
            <a:endParaRPr lang="it-IT" sz="15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La disponibilità del binario e il caricamento corretto non dimostrano che tutti gli scenari funzionali continuino a comportarsi correttamente: la combinazione effettiva deve essere registrata e sottoposta a test.</a:t>
            </a:r>
            <a:endParaRPr lang="it-IT" sz="15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La compatibilità binaria è un prerequisito; l'esito funzionale deve essere dimostrato dal processo di test.</a:t>
            </a:r>
            <a:endParaRPr lang="it-IT" sz="15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Aggiornare DuckDB non significa aggiornare tutto allo stesso modo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4</a:t>
            </a:r>
            <a:endParaRPr lang="it-IT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IL RISCHIO NASCE DALLA COMPOSIZIONE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Il rischio nasce dalla composizione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Un'estensione può buildare per la nuova versione DuckDB senza introdurre modifiche funzionali reali.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Un'estensione può funzionare isolatamente e fallire quando viene caricata insieme alle altre.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Possibili collisioni su funzioni, impostazioni, secret provider, filesystem e cataloghi.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Sequenze di ATTACH multiple possono dipendere dallo stato già inizializzato della sessione.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Anche l'ordine di caricamento può avere effetti sul comportamento.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Esempio da raccontare:</a:t>
            </a:r>
            <a:endParaRPr lang="it-IT" sz="1500"/>
          </a:p>
          <a:p>
            <a:pPr/>
            <a:r>
              <a:rPr lang="it-IT" sz="1400" b="1">
                <a:solidFill>
                  <a:srgbClr val="006181"/>
                </a:solidFill>
                <a:latin typeface="Segoe UI"/>
                <a:cs typeface="Segoe UI"/>
              </a:rPr>
              <a:t>Problemi osservati in sequenze di ATTACH, ad esempio MSSQL dopo PostgreSQL.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Il rischio nasce dalla composizione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5</a:t>
            </a:r>
            <a:endParaRPr lang="it-IT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PROCESSO PROPOSTO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Processo proposto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Il processo deve produrre evidenze su tre livelli: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Preparare un runtime ripetibile: DuckDB, CLI, unittest, versioni, pin e set di estensioni di piattaforma.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Verificare le estensioni nel contesto comune: riusare i test originali dove disponibili, ma con la composizione caricata.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Validare la composizione: aggiungere scenari cross-extension mantenuti da noi e farli crescere come regressione.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Output atteso: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report di compatibilità;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test falliti, esclusi o non eseguibili;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problemi noti e rischi residui;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evidenze per decidere se l'aggiornamento è accettabile.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Processo proposto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6</a:t>
            </a:r>
            <a:endParaRPr lang="it-IT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POC SU GITHUB ACTIONS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POC su GitHub Actions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Realizzato: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configurazione centrale config/extensions.yml;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DuckDB v1.5.4 + unittest;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build eseguita una sola volta;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artifact condiviso tra le batterie;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matrice di job paralleli;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checkout upstream a pin immutabili o release;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installazione e caricamento congiunto delle estensioni;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container e servizi per batterie specifiche;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ambienti isolati e raccolta dei log.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Perché GitHub: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rapidità di realizzazione del POC;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runner Ubuntu già disponibili;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gestione semplice di job, container, artifact e log;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repository DuckDB ed estensioni già presenti sulla piattaforma.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POC su GitHub Actions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7</a:t>
            </a:r>
            <a:endParaRPr lang="it-IT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SET DI ESTENSIONI DI PIATTAFORMA DA VALIDARE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Set di estensioni di piattaforma da validare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Il runtime di validazione deve caricare il set di estensioni utilizzato dalla piattaforma:</a:t>
            </a:r>
            <a:endParaRPr lang="it-IT" sz="1500"/>
          </a:p>
          <a:p>
            <a:pPr/>
            <a:r>
              <a:rPr lang="it-IT" sz="1400" b="1">
                <a:solidFill>
                  <a:srgbClr val="006181"/>
                </a:solidFill>
                <a:latin typeface="Segoe UI"/>
                <a:cs typeface="Segoe UI"/>
              </a:rPr>
              <a:t>Delta; DuckLake; HTTPFS; Iceberg; PostgreSQL Scanner; Azure; Unity Catalog; MSSQL; Virtual File Provider; BigQuery.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Stato del POC: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sono già configurate batterie per HTTPFS, DuckLake, PostgreSQL Scanner, Delta, Iceberg, Azure, Unity Catalog e MSSQL;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Virtual File Provider e BigQuery devono essere integrati nel processo;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non tutte le estensioni richiedono una batteria dedicata: alcune devono essere caricate e verificate soprattutto nei test congiunti.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Set di estensioni di piattaforma da validare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8</a:t>
            </a:r>
            <a:endParaRPr lang="it-IT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DA POC A PROCESSO UFFICIALE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Da POC a processo ufficiale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Da completare: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test cross-extension in una singola sessione;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integrazione Virtual File Provider e BigQuery;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report aggregato per il SAL;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misurazione tempi, dimensione artifact e log;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classificazione test esclusi, parziali o non eseguibili;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accesso a piattaforme reali per i test oggi coperti solo in parte;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spike Telemaco DevOps;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decisione sulla piattaforma stabile.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Nota sui test parziali: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alcune batterie, come Iceberg, Delta/Unity Catalog e HTTPFS, possono eseguire solo una parte dei test senza account o servizi esterni;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MinIO copre scenari S3-like locali, ma non sostituisce completamente un provider cloud S3 reale;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per completare la validazione serviranno credenziali, account o ambienti dedicati sulle piattaforme per cui le estensioni sono state create.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Da POC a processo ufficiale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9</a:t>
            </a:r>
            <a:endParaRPr lang="it-IT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IL PROCESSO È SODDISFACENTE?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Il processo è soddisfacente?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Proposta: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test originali e upstream dove applicabili;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estensioni di piattaforma caricate congiuntamente;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pin immutabili e versioni effettive registrate;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test cross-extension in singola sessione;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suite di regressione incrementale;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report con problemi, esclusioni e rischi.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Decisione richiesta:</a:t>
            </a:r>
            <a:endParaRPr lang="it-IT" sz="1500"/>
          </a:p>
          <a:p>
            <a:pPr/>
            <a:r>
              <a:rPr lang="it-IT" sz="1400" b="1">
                <a:solidFill>
                  <a:srgbClr val="006181"/>
                </a:solidFill>
                <a:latin typeface="Segoe UI"/>
                <a:cs typeface="Segoe UI"/>
              </a:rPr>
              <a:t>Confermiamo questo processo come base della validazione degli aggiornamenti DuckDB?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Il processo è soddisfacente?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10</a:t>
            </a:r>
            <a:endParaRPr lang="it-IT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GITHUB O TELEMACO DEVOPS?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GitHub o Telemaco DevOps?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La domanda successiva è organizzativa e infrastrutturale.</a:t>
            </a:r>
            <a:endParaRPr lang="it-IT" sz="15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Opzioni principali: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continuare su GitHub Actions;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portare il processo su Telemaco DevOps.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Valutato e scartato: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GitHub Actions con runner self-hosted Irion.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GitHub o Telemaco DevOps?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11</a:t>
            </a:r>
            <a:endParaRPr lang="it-IT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GITHUB: VELOCE E GIÀ DIMOSTRATO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GitHub: veloce e già dimostrato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Vantaggi: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POC già funzionante;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runner pronti ed effimeri;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job paralleli semplici;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artifact e log immediati;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repository DuckDB già su GitHub;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ideale per iterare velocemente.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Criticità: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repository private con quote o costi;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log e artifact fuori dalla rete Irion;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Virtual File Provider interna non accessibile dai runner hosted;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governance esterna.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GitHub: veloce e già dimostrato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12</a:t>
            </a:r>
            <a:endParaRPr lang="it-IT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TELEMACO DEVOPS: INTERNO MA DA VERIFICARE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Telemaco DevOps: interno ma da verificare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Vantaggi: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resta nella rete Irion;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accesso ai repository interni;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accesso al repository interno del Virtual File Provider e ai log associati;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controllo su log, retention e processo ufficiale;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coerente con un processo aziendale interno.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Criticità: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macchine runner da predisporre;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Docker e Docker Compose da verificare;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container Linux per build e test della prima fase;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container e rete aziendale;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IP, proxy e firewall;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parallelizzazione da provare;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adattamento del workflow rispetto al POC GitHub.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Telemaco DevOps: interno ma da verificare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13</a:t>
            </a:r>
            <a:endParaRPr lang="it-IT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PUNTO TECNICO DA CHIARIRE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Punto tecnico da chiarire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Il processo richiede servizi: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MinIO/S3;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Squid, proxy HTTP usato nei test HTTPFS per validare accesso tramite proxy;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PostgreSQL;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SQL Server;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eventuali cataloghi o servizi futuri.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Sulle macchine runner bisogna verificare: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esecuzione dei container Linux di test;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accesso alla rete aziendale dai container;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IP registrati o non registrati;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proxy e firewall;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porte e nomi container quando più test sono eseguiti;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agenti persistenti o effimeri;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modalità di isolamento tra esecuzioni.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Punto tecnico da chiarire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14</a:t>
            </a:r>
            <a:endParaRPr lang="it-IT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IL REPOSITORY INTERNO CONDIZIONA LA SCELTA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Il repository interno condiziona la scelta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Situazione: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repository Virtual File Provider oggi interno;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non raggiungibile dai runner GitHub-hosted;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necessario per una validazione completa del set di piattaforma.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Opzioni realistiche: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portare o replicare il repository su GitHub private;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usare Telemaco DevOps end-to-end;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Il repository interno condiziona la scelta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15</a:t>
            </a:r>
            <a:endParaRPr lang="it-IT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COSA DEVE DIMOSTRARE LO SPIKE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Cosa deve dimostrare lo spike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13232" y="1664208"/>
            <a:ext cx="10561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Minimo richiesto:</a:t>
            </a:r>
            <a:endParaRPr lang="it-IT" sz="15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build DuckDB una volta;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artifact riusato;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almeno tre batterie;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almeno una batteria con container Linux;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almeno una batteria con repository interno;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raccolta log anche in caso di errore;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nessun conflitto di porte o runtime;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parallelismo oppure serializzazione consapevole;</a:t>
            </a:r>
            <a:endParaRPr lang="it-IT" sz="1400"/>
          </a:p>
          <a:p>
            <a:pPr marL="219456" indent="-146304">
              <a:buChar char="•"/>
            </a:pPr>
            <a:r>
              <a:rPr lang="it-IT" sz="1400">
                <a:solidFill>
                  <a:srgbClr val="333333"/>
                </a:solidFill>
                <a:latin typeface="Segoe UI"/>
                <a:cs typeface="Segoe UI"/>
              </a:rPr>
              <a:t>tempi e consumo risorse misurati.</a:t>
            </a:r>
            <a:endParaRPr lang="it-IT" sz="1400"/>
          </a:p>
          <a:p>
            <a:pPr/>
            <a:r>
              <a:rPr lang="it-IT" sz="1500">
                <a:solidFill>
                  <a:srgbClr val="333333"/>
                </a:solidFill>
                <a:latin typeface="Segoe UI"/>
                <a:cs typeface="Segoe UI"/>
              </a:rPr>
              <a:t>Decisione:</a:t>
            </a:r>
            <a:endParaRPr lang="it-IT" sz="1500"/>
          </a:p>
          <a:p>
            <a:pPr/>
            <a:r>
              <a:rPr lang="it-IT" sz="1400" b="1">
                <a:solidFill>
                  <a:srgbClr val="006181"/>
                </a:solidFill>
                <a:latin typeface="Segoe UI"/>
                <a:cs typeface="Segoe UI"/>
              </a:rPr>
              <a:t>Se lo spike passa, Telemaco diventa candidato concreto per il processo ufficiale.</a:t>
            </a:r>
            <a:endParaRPr lang="it-IT" sz="1400"/>
          </a:p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Cosa deve dimostrare lo spike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16</a:t>
            </a:r>
            <a:endParaRPr lang="it-IT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66928" y="329184"/>
            <a:ext cx="73152" cy="310896"/>
          </a:xfrm>
          <a:prstGeom prst="rect">
            <a:avLst/>
          </a:prstGeom>
          <a:solidFill>
            <a:srgbClr val="006181"/>
          </a:solidFill>
          <a:ln>
            <a:noFill/>
          </a:ln>
        </p:spPr>
      </p:sp>
      <p:sp>
        <p:nvSpPr>
          <p:cNvPr id="3" name="Kicker 3"/>
          <p:cNvSpPr txBox="1"/>
          <p:nvPr/>
        </p:nvSpPr>
        <p:spPr>
          <a:xfrm>
            <a:off x="713232" y="28346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900" b="1">
                <a:solidFill>
                  <a:srgbClr val="006181"/>
                </a:solidFill>
                <a:latin typeface="Segoe UI"/>
                <a:cs typeface="Segoe UI"/>
              </a:rPr>
              <a:t>AMBIENTI NECESSARI E COPERTURA WINDOWS</a:t>
            </a:r>
            <a:endParaRPr lang="it-IT" sz="900"/>
          </a:p>
        </p:txBody>
      </p:sp>
      <p:sp>
        <p:nvSpPr>
          <p:cNvPr id="4" name="Title 4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3000" b="1">
                <a:solidFill>
                  <a:srgbClr val="333333"/>
                </a:solidFill>
                <a:latin typeface="Segoe UI"/>
                <a:cs typeface="Segoe UI"/>
              </a:rPr>
              <a:t>Ambienti necessari e copertura Windows</a:t>
            </a:r>
            <a:endParaRPr lang="it-IT" sz="3000"/>
          </a:p>
        </p:txBody>
      </p:sp>
      <p:sp>
        <p:nvSpPr>
          <p:cNvPr id="5" name="Rectangle 5"/>
          <p:cNvSpPr/>
          <p:nvPr/>
        </p:nvSpPr>
        <p:spPr>
          <a:xfrm>
            <a:off x="566928" y="1353312"/>
            <a:ext cx="10881360" cy="9144"/>
          </a:xfrm>
          <a:prstGeom prst="rect">
            <a:avLst/>
          </a:prstGeom>
          <a:solidFill>
            <a:srgbClr val="D1E7F8"/>
          </a:solidFill>
          <a:ln>
            <a:noFill/>
          </a:ln>
        </p:spPr>
        <p:txBody>
          <a:bodyPr/>
          <a:p/>
        </p:txBody>
      </p:sp>
      <p:sp>
        <p:nvSpPr>
          <p:cNvPr id="7" name="Footer 7"/>
          <p:cNvSpPr txBox="1"/>
          <p:nvPr/>
        </p:nvSpPr>
        <p:spPr>
          <a:xfrm>
            <a:off x="566928" y="647395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Ambienti necessari e copertura Windows</a:t>
            </a:r>
            <a:endParaRPr lang="it-IT" sz="800"/>
          </a:p>
        </p:txBody>
      </p:sp>
      <p:sp>
        <p:nvSpPr>
          <p:cNvPr id="8" name="Page 8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45720" rIns="73152" bIns="45720"/>
          <a:lstStyle/>
          <a:p>
            <a:pPr/>
            <a:r>
              <a:rPr lang="it-IT" sz="800">
                <a:solidFill>
                  <a:srgbClr val="727272"/>
                </a:solidFill>
                <a:latin typeface="Segoe UI"/>
                <a:cs typeface="Segoe UI"/>
              </a:rPr>
              <a:t>17</a:t>
            </a:r>
            <a:endParaRPr lang="it-IT" sz="800"/>
          </a:p>
        </p:txBody>
      </p:sp>
      <p:sp>
        <p:nvSpPr>
          <p:cNvPr id="9" name="Rectangle 8"/>
          <p:cNvSpPr/>
          <p:nvPr/>
        </p:nvSpPr>
        <p:spPr>
          <a:xfrm>
            <a:off x="6035040" y="1700784"/>
            <a:ext cx="16459" cy="4370832"/>
          </a:xfrm>
          <a:prstGeom prst="rect">
            <a:avLst/>
          </a:prstGeom>
          <a:solidFill>
            <a:srgbClr val="D8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5029200" cy="431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</a:pPr>
            <a:r>
              <a:rPr sz="1550" b="1">
                <a:solidFill>
                  <a:srgbClr val="006680"/>
                </a:solidFill>
                <a:latin typeface="Segoe UI"/>
              </a:rPr>
              <a:t>Infrastruttura runner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Macchine runner Windows o Linux; Docker/Compose; container Linux per build e test della prima fase; rete verso repository e provider; secret store; isolamento, log e cleanup.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</a:pPr>
            <a:r>
              <a:rPr sz="1550" b="1">
                <a:solidFill>
                  <a:srgbClr val="006680"/>
                </a:solidFill>
                <a:latin typeface="Segoe UI"/>
              </a:rPr>
              <a:t>Servizi locali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MinIO + Squid (proxy HTTP usato dai test HTTPFS per verificare accesso tramite proxy) + server HTTP; Azurite + Azure CLI; PostgreSQL 15/17; SQL Server 2022; catalogo REST Iceberg + MinIO; sidecar Quack; PgBouncer/TLS per la copertura estesa.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</a:pPr>
            <a:r>
              <a:rPr sz="1550" b="1">
                <a:solidFill>
                  <a:srgbClr val="006680"/>
                </a:solidFill>
                <a:latin typeface="Segoe UI"/>
              </a:rPr>
              <a:t>Risorse e permessi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bucket, container, cataloghi, schemi e database dedicati, con permessi di lettura, scrittura, lista, cancellazione e cleanup.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1700784"/>
            <a:ext cx="5074920" cy="431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</a:pPr>
            <a:r>
              <a:rPr sz="1550" b="1">
                <a:solidFill>
                  <a:srgbClr val="006680"/>
                </a:solidFill>
                <a:latin typeface="Segoe UI"/>
              </a:rPr>
              <a:t>Account cloud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AWS: S3, Glue e S3 Tables;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Azure: Blob Storage, ADLS Gen2 e service principal;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Databricks: workspace e Unity Catalog;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per la matrice Iceberg completa: Cloudflare R2 e Snowflake Open Catalog;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Azure SQL/Fabric per i test cloud MSSQL.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</a:pPr>
            <a:r>
              <a:rPr sz="1550" b="1">
                <a:solidFill>
                  <a:srgbClr val="006680"/>
                </a:solidFill>
                <a:latin typeface="Segoe UI"/>
              </a:rPr>
              <a:t>Copertura Windows e perimetro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Fase 1: validazione Linux containerizzata, già dimostrata dal POC.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Fase 2: smoke test e scenari cross-extension Windows nativi.</a:t>
            </a:r>
          </a:p>
          <a:p>
            <a:pPr algn="l" marL="201168" indent="-128016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Segoe UI"/>
              </a:rPr>
              <a:t>I servizi di supporto possono restare in container Linux, ma DuckDB, unittest ed estensioni Windows devono essere eseguiti nativamente.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350" b="1">
                <a:solidFill>
                  <a:srgbClr val="006680"/>
                </a:solidFill>
                <a:latin typeface="Segoe UI"/>
              </a:rPr>
              <a:t>BigQuery è escluso da questo inventario.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rion Markdown">
  <a:themeElements>
    <a:clrScheme name="Irion">
      <a:dk1>
        <a:srgbClr val="333333"/>
      </a:dk1>
      <a:lt1>
        <a:srgbClr val="FFFFFF"/>
      </a:lt1>
      <a:dk2>
        <a:srgbClr val="727272"/>
      </a:dk2>
      <a:lt2>
        <a:srgbClr val="F5F8FA"/>
      </a:lt2>
      <a:accent1>
        <a:srgbClr val="006181"/>
      </a:accent1>
      <a:accent2>
        <a:srgbClr val="47AF83"/>
      </a:accent2>
      <a:accent3>
        <a:srgbClr val="D1E7F8"/>
      </a:accent3>
      <a:accent4>
        <a:srgbClr val="EEECE1"/>
      </a:accent4>
      <a:accent5>
        <a:srgbClr val="C00000"/>
      </a:accent5>
      <a:accent6>
        <a:srgbClr val="3C3C3E"/>
      </a:accent6>
      <a:hlink>
        <a:srgbClr val="006181"/>
      </a:hlink>
      <a:folHlink>
        <a:srgbClr val="47AF83"/>
      </a:folHlink>
    </a:clrScheme>
    <a:fontScheme name="Iri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Irio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9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90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>
            <a:outerShdw blurRad="40000" dist="20000" dir="5400000" rotWithShape="0">
              <a:srgbClr val="000000">
                <a:alpha val="12000"/>
              </a:srgbClr>
            </a:outerShdw>
          </a:effectLst>
        </a:effectStyle>
        <a:effectStyle>
          <a:effectLst>
            <a:outerShdw blurRad="57150" dist="19050" dir="5400000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17</Slides>
  <Notes>0</Notes>
  <HiddenSlides>0</HiddenSlides>
  <Company>Irion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 — Validazione DuckDB ed estensioni</dc:title>
  <dc:creator>Irion</dc:creator>
  <cp:lastModifiedBy>Irion</cp:lastModifiedBy>
  <dcterms:created xsi:type="dcterms:W3CDTF">2026-07-23T13:22:27Z</dcterms:created>
  <dcterms:modified xsi:type="dcterms:W3CDTF">2026-07-23T13:22:27Z</dcterms:modified>
</cp:coreProperties>
</file>